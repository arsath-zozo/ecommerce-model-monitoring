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F19">
              <a:alpha val="74902"/>
            </a:srgbClr>
          </a:solidFill>
          <a:ln/>
        </p:spPr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>
            <a:alphaModFix amt="9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81535" y="-1953570"/>
            <a:ext cx="6398895" cy="6398895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5">
            <a:alphaModFix amt="9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2492648" y="559073"/>
            <a:ext cx="7362825" cy="736282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457200" y="4772397"/>
            <a:ext cx="3484200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spc="52" kern="0" dirty="0">
                <a:solidFill>
                  <a:srgbClr val="6D6F7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100,000-EVENT DETERMINISTIC CAPSTONE EXPERIMENT</a:t>
            </a:r>
            <a:endParaRPr lang="en-US" sz="650" dirty="0"/>
          </a:p>
        </p:txBody>
      </p:sp>
      <p:sp>
        <p:nvSpPr>
          <p:cNvPr id="8" name="Shape 2"/>
          <p:cNvSpPr/>
          <p:nvPr/>
        </p:nvSpPr>
        <p:spPr>
          <a:xfrm>
            <a:off x="6948488" y="3908636"/>
            <a:ext cx="2562225" cy="823913"/>
          </a:xfrm>
          <a:prstGeom prst="roundRect">
            <a:avLst>
              <a:gd name="adj" fmla="val 11098"/>
            </a:avLst>
          </a:prstGeom>
          <a:solidFill>
            <a:srgbClr val="131726">
              <a:alpha val="90196"/>
            </a:srgbClr>
          </a:solidFill>
          <a:ln w="4763">
            <a:solidFill>
              <a:srgbClr val="FFFFFF">
                <a:alpha val="10196"/>
              </a:srgbClr>
            </a:solidFill>
            <a:prstDash val="solid"/>
          </a:ln>
          <a:effectLst>
            <a:outerShdw sx="100000" sy="100000" kx="0" ky="0" algn="bl" rotWithShape="0" blurRad="238125" dist="119063" dir="5400000">
              <a:srgbClr val="000000">
                <a:alpha val="25000"/>
              </a:srgbClr>
            </a:outerShdw>
          </a:effectLst>
        </p:spPr>
      </p:sp>
      <p:sp>
        <p:nvSpPr>
          <p:cNvPr id="9" name="Shape 3"/>
          <p:cNvSpPr/>
          <p:nvPr/>
        </p:nvSpPr>
        <p:spPr>
          <a:xfrm>
            <a:off x="7106121" y="4172441"/>
            <a:ext cx="90488" cy="90488"/>
          </a:xfrm>
          <a:prstGeom prst="ellipse">
            <a:avLst/>
          </a:prstGeom>
          <a:solidFill>
            <a:srgbClr val="7C6BF0"/>
          </a:solidFill>
          <a:ln/>
        </p:spPr>
      </p:sp>
      <p:sp>
        <p:nvSpPr>
          <p:cNvPr id="10" name="Shape 4"/>
          <p:cNvSpPr/>
          <p:nvPr/>
        </p:nvSpPr>
        <p:spPr>
          <a:xfrm>
            <a:off x="7268012" y="4136523"/>
            <a:ext cx="914400" cy="61912"/>
          </a:xfrm>
          <a:prstGeom prst="roundRect">
            <a:avLst>
              <a:gd name="adj" fmla="val 30769"/>
            </a:avLst>
          </a:prstGeom>
          <a:solidFill>
            <a:srgbClr val="FFFFFF">
              <a:alpha val="10196"/>
            </a:srgbClr>
          </a:solidFill>
          <a:ln/>
        </p:spPr>
      </p:sp>
      <p:sp>
        <p:nvSpPr>
          <p:cNvPr id="11" name="Shape 5"/>
          <p:cNvSpPr/>
          <p:nvPr/>
        </p:nvSpPr>
        <p:spPr>
          <a:xfrm>
            <a:off x="7116729" y="4285131"/>
            <a:ext cx="1371600" cy="61912"/>
          </a:xfrm>
          <a:prstGeom prst="roundRect">
            <a:avLst>
              <a:gd name="adj" fmla="val 30769"/>
            </a:avLst>
          </a:prstGeom>
          <a:solidFill>
            <a:srgbClr val="FFFFFF">
              <a:alpha val="5098"/>
            </a:srgbClr>
          </a:solidFill>
          <a:ln/>
        </p:spPr>
      </p:sp>
      <p:sp>
        <p:nvSpPr>
          <p:cNvPr id="12" name="Shape 6"/>
          <p:cNvSpPr/>
          <p:nvPr/>
        </p:nvSpPr>
        <p:spPr>
          <a:xfrm>
            <a:off x="7127931" y="4416050"/>
            <a:ext cx="1004887" cy="61912"/>
          </a:xfrm>
          <a:prstGeom prst="roundRect">
            <a:avLst>
              <a:gd name="adj" fmla="val 30769"/>
            </a:avLst>
          </a:prstGeom>
          <a:solidFill>
            <a:srgbClr val="FFFFFF">
              <a:alpha val="5098"/>
            </a:srgbClr>
          </a:solidFill>
          <a:ln/>
        </p:spPr>
      </p:sp>
      <p:sp>
        <p:nvSpPr>
          <p:cNvPr id="13" name="Shape 7"/>
          <p:cNvSpPr/>
          <p:nvPr/>
        </p:nvSpPr>
        <p:spPr>
          <a:xfrm>
            <a:off x="458130" y="258105"/>
            <a:ext cx="180975" cy="180975"/>
          </a:xfrm>
          <a:prstGeom prst="roundRect">
            <a:avLst>
              <a:gd name="adj" fmla="val 20211"/>
            </a:avLst>
          </a:prstGeom>
          <a:solidFill>
            <a:srgbClr val="4F7FFF"/>
          </a:solidFill>
          <a:ln/>
        </p:spPr>
      </p:sp>
      <p:sp>
        <p:nvSpPr>
          <p:cNvPr id="14" name="Text 8"/>
          <p:cNvSpPr/>
          <p:nvPr/>
        </p:nvSpPr>
        <p:spPr>
          <a:xfrm>
            <a:off x="731416" y="280541"/>
            <a:ext cx="81964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spc="-17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 Loss</a:t>
            </a:r>
            <a:endParaRPr lang="en-US" sz="860" dirty="0"/>
          </a:p>
        </p:txBody>
      </p:sp>
      <p:sp>
        <p:nvSpPr>
          <p:cNvPr id="15" name="Text 9"/>
          <p:cNvSpPr/>
          <p:nvPr/>
        </p:nvSpPr>
        <p:spPr>
          <a:xfrm>
            <a:off x="8462442" y="266700"/>
            <a:ext cx="348816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spc="52" kern="0" dirty="0">
                <a:solidFill>
                  <a:srgbClr val="6D6F7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2026</a:t>
            </a:r>
            <a:endParaRPr lang="en-US" sz="650" dirty="0"/>
          </a:p>
        </p:txBody>
      </p:sp>
      <p:sp>
        <p:nvSpPr>
          <p:cNvPr id="16" name="Shape 10"/>
          <p:cNvSpPr/>
          <p:nvPr/>
        </p:nvSpPr>
        <p:spPr>
          <a:xfrm>
            <a:off x="3729038" y="1550305"/>
            <a:ext cx="1685925" cy="219075"/>
          </a:xfrm>
          <a:prstGeom prst="roundRect">
            <a:avLst>
              <a:gd name="adj" fmla="val 50000"/>
            </a:avLst>
          </a:prstGeom>
          <a:solidFill>
            <a:srgbClr val="796BF2">
              <a:alpha val="14902"/>
            </a:srgbClr>
          </a:solidFill>
          <a:ln w="4763">
            <a:solidFill>
              <a:srgbClr val="7D6BF0">
                <a:alpha val="40000"/>
              </a:srgbClr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3608256" y="1600795"/>
            <a:ext cx="192748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1620"/>
              </a:spcAft>
              <a:buNone/>
            </a:pPr>
            <a:r>
              <a:rPr lang="en-US" sz="720" spc="58" kern="0" dirty="0">
                <a:solidFill>
                  <a:srgbClr val="9A8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MONITORING CAPSTONE</a:t>
            </a:r>
            <a:endParaRPr lang="en-US" sz="720" dirty="0"/>
          </a:p>
        </p:txBody>
      </p:sp>
      <p:sp>
        <p:nvSpPr>
          <p:cNvPr id="18" name="Text 12"/>
          <p:cNvSpPr/>
          <p:nvPr/>
        </p:nvSpPr>
        <p:spPr>
          <a:xfrm>
            <a:off x="2915815" y="1917650"/>
            <a:ext cx="3312296" cy="6048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960" b="1" spc="-23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 Loss</a:t>
            </a:r>
            <a:endParaRPr lang="en-US" sz="3960" dirty="0"/>
          </a:p>
        </p:txBody>
      </p:sp>
      <p:sp>
        <p:nvSpPr>
          <p:cNvPr id="19" name="Text 13"/>
          <p:cNvSpPr/>
          <p:nvPr/>
        </p:nvSpPr>
        <p:spPr>
          <a:xfrm>
            <a:off x="1329779" y="2610445"/>
            <a:ext cx="648444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1013"/>
              </a:spcBef>
              <a:buNone/>
            </a:pPr>
            <a:r>
              <a:rPr lang="en-US" sz="1120" dirty="0">
                <a:solidFill>
                  <a:srgbClr val="B1B2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recommendation-model degradation before it becomes expensive.</a:t>
            </a:r>
            <a:endParaRPr lang="en-US" sz="1120" dirty="0"/>
          </a:p>
        </p:txBody>
      </p:sp>
      <p:sp>
        <p:nvSpPr>
          <p:cNvPr id="20" name="Text 14"/>
          <p:cNvSpPr/>
          <p:nvPr/>
        </p:nvSpPr>
        <p:spPr>
          <a:xfrm>
            <a:off x="2492875" y="2867397"/>
            <a:ext cx="4158176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Bef>
                <a:spcPts val="405"/>
              </a:spcBef>
              <a:buNone/>
            </a:pPr>
            <a:r>
              <a:rPr lang="en-US" sz="900" dirty="0">
                <a:solidFill>
                  <a:srgbClr val="8687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monitoring for post-deployment e-commerce systems.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3523357" y="3332076"/>
            <a:ext cx="528638" cy="261937"/>
          </a:xfrm>
          <a:prstGeom prst="roundRect">
            <a:avLst>
              <a:gd name="adj" fmla="val 17455"/>
            </a:avLst>
          </a:prstGeom>
          <a:solidFill>
            <a:srgbClr val="FFFFFF">
              <a:alpha val="4300"/>
            </a:srgbClr>
          </a:solidFill>
          <a:ln w="476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3587777" y="3403997"/>
            <a:ext cx="39979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C5C6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DRIFT</a:t>
            </a:r>
            <a:endParaRPr lang="en-US" sz="720" dirty="0"/>
          </a:p>
        </p:txBody>
      </p:sp>
      <p:sp>
        <p:nvSpPr>
          <p:cNvPr id="23" name="Shape 17"/>
          <p:cNvSpPr/>
          <p:nvPr/>
        </p:nvSpPr>
        <p:spPr>
          <a:xfrm>
            <a:off x="4163020" y="3332076"/>
            <a:ext cx="733425" cy="261937"/>
          </a:xfrm>
          <a:prstGeom prst="roundRect">
            <a:avLst>
              <a:gd name="adj" fmla="val 17455"/>
            </a:avLst>
          </a:prstGeom>
          <a:solidFill>
            <a:srgbClr val="FFFFFF">
              <a:alpha val="4300"/>
            </a:srgbClr>
          </a:solidFill>
          <a:ln w="476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195562" y="3403997"/>
            <a:ext cx="66834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C5C6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</a:t>
            </a:r>
            <a:endParaRPr lang="en-US" sz="720" dirty="0"/>
          </a:p>
        </p:txBody>
      </p:sp>
      <p:sp>
        <p:nvSpPr>
          <p:cNvPr id="25" name="Shape 19"/>
          <p:cNvSpPr/>
          <p:nvPr/>
        </p:nvSpPr>
        <p:spPr>
          <a:xfrm>
            <a:off x="5006839" y="3332076"/>
            <a:ext cx="614363" cy="261937"/>
          </a:xfrm>
          <a:prstGeom prst="roundRect">
            <a:avLst>
              <a:gd name="adj" fmla="val 17455"/>
            </a:avLst>
          </a:prstGeom>
          <a:solidFill>
            <a:srgbClr val="FFFFFF">
              <a:alpha val="4300"/>
            </a:srgbClr>
          </a:solidFill>
          <a:ln w="476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059222" y="3403997"/>
            <a:ext cx="50959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C5C6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9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52130" y="-411525"/>
            <a:ext cx="5760720" cy="57607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772397"/>
            <a:ext cx="1953027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spc="52" kern="0" dirty="0">
                <a:solidFill>
                  <a:srgbClr val="6D6F7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POST-DEPLOYMENT MONITORING</a:t>
            </a:r>
            <a:endParaRPr lang="en-US" sz="650" dirty="0"/>
          </a:p>
        </p:txBody>
      </p:sp>
      <p:sp>
        <p:nvSpPr>
          <p:cNvPr id="5" name="Shape 1"/>
          <p:cNvSpPr/>
          <p:nvPr/>
        </p:nvSpPr>
        <p:spPr>
          <a:xfrm>
            <a:off x="456902" y="261417"/>
            <a:ext cx="128588" cy="128588"/>
          </a:xfrm>
          <a:prstGeom prst="roundRect">
            <a:avLst>
              <a:gd name="adj" fmla="val 21333"/>
            </a:avLst>
          </a:prstGeom>
          <a:solidFill>
            <a:srgbClr val="4F7FFF"/>
          </a:solidFill>
          <a:ln/>
        </p:spPr>
      </p:sp>
      <p:sp>
        <p:nvSpPr>
          <p:cNvPr id="6" name="Text 2"/>
          <p:cNvSpPr/>
          <p:nvPr/>
        </p:nvSpPr>
        <p:spPr>
          <a:xfrm>
            <a:off x="676573" y="266700"/>
            <a:ext cx="74476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spc="14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 Loss</a:t>
            </a:r>
            <a:endParaRPr lang="en-US" sz="720" dirty="0"/>
          </a:p>
        </p:txBody>
      </p:sp>
      <p:sp>
        <p:nvSpPr>
          <p:cNvPr id="7" name="Text 3"/>
          <p:cNvSpPr/>
          <p:nvPr/>
        </p:nvSpPr>
        <p:spPr>
          <a:xfrm>
            <a:off x="8294117" y="266700"/>
            <a:ext cx="56763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spc="52" kern="0" dirty="0">
                <a:solidFill>
                  <a:srgbClr val="6D6F7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 / 06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731490" y="1432396"/>
            <a:ext cx="110540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15"/>
              </a:spcAft>
              <a:buNone/>
            </a:pPr>
            <a:r>
              <a:rPr lang="en-US" sz="790" b="1" spc="111" kern="0" dirty="0">
                <a:solidFill>
                  <a:srgbClr val="7C6B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THE GAP</a:t>
            </a:r>
            <a:endParaRPr lang="en-US" sz="790" dirty="0"/>
          </a:p>
        </p:txBody>
      </p:sp>
      <p:sp>
        <p:nvSpPr>
          <p:cNvPr id="9" name="Text 5"/>
          <p:cNvSpPr/>
          <p:nvPr/>
        </p:nvSpPr>
        <p:spPr>
          <a:xfrm>
            <a:off x="731490" y="1689943"/>
            <a:ext cx="4799841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660" b="1" spc="-13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production problem</a:t>
            </a:r>
            <a:endParaRPr lang="en-US" sz="2660" dirty="0"/>
          </a:p>
        </p:txBody>
      </p:sp>
      <p:sp>
        <p:nvSpPr>
          <p:cNvPr id="10" name="Shape 6"/>
          <p:cNvSpPr/>
          <p:nvPr/>
        </p:nvSpPr>
        <p:spPr>
          <a:xfrm>
            <a:off x="730523" y="2280791"/>
            <a:ext cx="1647825" cy="4763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863947" y="2500759"/>
            <a:ext cx="442082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CACA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 quality can degrade after deployment</a:t>
            </a:r>
            <a:endParaRPr lang="en-US" sz="1010" dirty="0"/>
          </a:p>
        </p:txBody>
      </p:sp>
      <p:sp>
        <p:nvSpPr>
          <p:cNvPr id="12" name="Text 8"/>
          <p:cNvSpPr/>
          <p:nvPr/>
        </p:nvSpPr>
        <p:spPr>
          <a:xfrm>
            <a:off x="863947" y="2796927"/>
            <a:ext cx="427203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CACA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distributions move before business outcomes</a:t>
            </a:r>
            <a:endParaRPr lang="en-US" sz="1010" dirty="0"/>
          </a:p>
        </p:txBody>
      </p:sp>
      <p:sp>
        <p:nvSpPr>
          <p:cNvPr id="13" name="Text 9"/>
          <p:cNvSpPr/>
          <p:nvPr/>
        </p:nvSpPr>
        <p:spPr>
          <a:xfrm>
            <a:off x="731490" y="2969716"/>
            <a:ext cx="97248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CACA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 obvious</a:t>
            </a:r>
            <a:endParaRPr lang="en-US" sz="1010" dirty="0"/>
          </a:p>
        </p:txBody>
      </p:sp>
      <p:sp>
        <p:nvSpPr>
          <p:cNvPr id="14" name="Text 10"/>
          <p:cNvSpPr/>
          <p:nvPr/>
        </p:nvSpPr>
        <p:spPr>
          <a:xfrm>
            <a:off x="863947" y="3265884"/>
            <a:ext cx="425801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CACA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Delayed outcomes make naive monitoring incomplete</a:t>
            </a:r>
            <a:endParaRPr lang="en-US" sz="1010" dirty="0"/>
          </a:p>
        </p:txBody>
      </p:sp>
      <p:sp>
        <p:nvSpPr>
          <p:cNvPr id="15" name="Text 11"/>
          <p:cNvSpPr/>
          <p:nvPr/>
        </p:nvSpPr>
        <p:spPr>
          <a:xfrm>
            <a:off x="863947" y="3562052"/>
            <a:ext cx="466024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CACA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Alerts need to connect model evidence to business impact</a:t>
            </a:r>
            <a:endParaRPr lang="en-US" sz="1010" dirty="0"/>
          </a:p>
        </p:txBody>
      </p:sp>
      <p:sp>
        <p:nvSpPr>
          <p:cNvPr id="16" name="Shape 12"/>
          <p:cNvSpPr/>
          <p:nvPr/>
        </p:nvSpPr>
        <p:spPr>
          <a:xfrm>
            <a:off x="5302932" y="1081050"/>
            <a:ext cx="3109913" cy="2981325"/>
          </a:xfrm>
          <a:prstGeom prst="roundRect">
            <a:avLst>
              <a:gd name="adj" fmla="val 3681"/>
            </a:avLst>
          </a:prstGeom>
          <a:solidFill>
            <a:srgbClr val="131726">
              <a:alpha val="86000"/>
            </a:srgbClr>
          </a:solidFill>
          <a:ln w="4763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257175" dist="102870" dir="5400000">
              <a:srgbClr val="000000">
                <a:alpha val="2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509320" y="1295549"/>
            <a:ext cx="143035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spc="76" kern="0" dirty="0">
                <a:solidFill>
                  <a:srgbClr val="8486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SIGNAL CHAIN</a:t>
            </a:r>
            <a:endParaRPr lang="en-US" sz="76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7920" y="1598749"/>
            <a:ext cx="4763" cy="185261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510436" y="1839441"/>
            <a:ext cx="57150" cy="57150"/>
          </a:xfrm>
          <a:prstGeom prst="ellipse">
            <a:avLst/>
          </a:prstGeom>
          <a:solidFill>
            <a:srgbClr val="4F7FFF"/>
          </a:solidFill>
          <a:ln/>
          <a:effectLst>
            <a:outerShdw sx="100000" sy="100000" kx="0" ky="0" algn="bl" rotWithShape="0" blurRad="100584" dist="50800" dir="16200000">
              <a:srgbClr val="4F7FFF">
                <a:alpha val="8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5705847" y="1701478"/>
            <a:ext cx="215433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 quality</a:t>
            </a:r>
            <a:endParaRPr lang="en-US" sz="1040" dirty="0"/>
          </a:p>
        </p:txBody>
      </p:sp>
      <p:sp>
        <p:nvSpPr>
          <p:cNvPr id="21" name="Text 16"/>
          <p:cNvSpPr/>
          <p:nvPr/>
        </p:nvSpPr>
        <p:spPr>
          <a:xfrm>
            <a:off x="5705847" y="1921297"/>
            <a:ext cx="13953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720" dirty="0">
                <a:solidFill>
                  <a:srgbClr val="8486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post-deployment reality</a:t>
            </a:r>
            <a:endParaRPr lang="en-US" sz="720" dirty="0"/>
          </a:p>
        </p:txBody>
      </p:sp>
      <p:sp>
        <p:nvSpPr>
          <p:cNvPr id="22" name="Shape 17"/>
          <p:cNvSpPr/>
          <p:nvPr/>
        </p:nvSpPr>
        <p:spPr>
          <a:xfrm>
            <a:off x="5510436" y="2484016"/>
            <a:ext cx="57150" cy="57150"/>
          </a:xfrm>
          <a:prstGeom prst="ellipse">
            <a:avLst/>
          </a:prstGeom>
          <a:solidFill>
            <a:srgbClr val="4F7FFF"/>
          </a:solidFill>
          <a:ln/>
          <a:effectLst>
            <a:outerShdw sx="100000" sy="100000" kx="0" ky="0" algn="bl" rotWithShape="0" blurRad="100584" dist="50800" dir="16200000">
              <a:srgbClr val="4F7FFF">
                <a:alpha val="80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5705847" y="2346052"/>
            <a:ext cx="146024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 shift</a:t>
            </a:r>
            <a:endParaRPr lang="en-US" sz="1040" dirty="0"/>
          </a:p>
        </p:txBody>
      </p:sp>
      <p:sp>
        <p:nvSpPr>
          <p:cNvPr id="24" name="Text 19"/>
          <p:cNvSpPr/>
          <p:nvPr/>
        </p:nvSpPr>
        <p:spPr>
          <a:xfrm>
            <a:off x="5705847" y="2565871"/>
            <a:ext cx="103469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720" dirty="0">
                <a:solidFill>
                  <a:srgbClr val="8486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early warning</a:t>
            </a:r>
            <a:endParaRPr lang="en-US" sz="720" dirty="0"/>
          </a:p>
        </p:txBody>
      </p:sp>
      <p:sp>
        <p:nvSpPr>
          <p:cNvPr id="25" name="Shape 20"/>
          <p:cNvSpPr/>
          <p:nvPr/>
        </p:nvSpPr>
        <p:spPr>
          <a:xfrm>
            <a:off x="5510436" y="3128590"/>
            <a:ext cx="57150" cy="57150"/>
          </a:xfrm>
          <a:prstGeom prst="ellipse">
            <a:avLst/>
          </a:prstGeom>
          <a:solidFill>
            <a:srgbClr val="4F7FFF"/>
          </a:solidFill>
          <a:ln/>
          <a:effectLst>
            <a:outerShdw sx="100000" sy="100000" kx="0" ky="0" algn="bl" rotWithShape="0" blurRad="100584" dist="50800" dir="16200000">
              <a:srgbClr val="4F7FFF">
                <a:alpha val="80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5705847" y="2990627"/>
            <a:ext cx="161840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Delayed outcomes</a:t>
            </a:r>
            <a:endParaRPr lang="en-US" sz="1040" dirty="0"/>
          </a:p>
        </p:txBody>
      </p:sp>
      <p:sp>
        <p:nvSpPr>
          <p:cNvPr id="27" name="Text 22"/>
          <p:cNvSpPr/>
          <p:nvPr/>
        </p:nvSpPr>
        <p:spPr>
          <a:xfrm>
            <a:off x="5705847" y="3210446"/>
            <a:ext cx="103333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720" dirty="0">
                <a:solidFill>
                  <a:srgbClr val="8486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missing clock</a:t>
            </a:r>
            <a:endParaRPr lang="en-US" sz="720" dirty="0"/>
          </a:p>
        </p:txBody>
      </p:sp>
      <p:sp>
        <p:nvSpPr>
          <p:cNvPr id="28" name="Shape 23"/>
          <p:cNvSpPr/>
          <p:nvPr/>
        </p:nvSpPr>
        <p:spPr>
          <a:xfrm>
            <a:off x="5510436" y="3773165"/>
            <a:ext cx="57150" cy="57150"/>
          </a:xfrm>
          <a:prstGeom prst="ellipse">
            <a:avLst/>
          </a:prstGeom>
          <a:solidFill>
            <a:srgbClr val="4F7FFF"/>
          </a:solidFill>
          <a:ln/>
          <a:effectLst>
            <a:outerShdw sx="100000" sy="100000" kx="0" ky="0" algn="bl" rotWithShape="0" blurRad="100584" dist="50800" dir="16200000">
              <a:srgbClr val="4F7FFF">
                <a:alpha val="80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5705847" y="3635201"/>
            <a:ext cx="144399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impact</a:t>
            </a:r>
            <a:endParaRPr lang="en-US" sz="1040" dirty="0"/>
          </a:p>
        </p:txBody>
      </p:sp>
      <p:sp>
        <p:nvSpPr>
          <p:cNvPr id="30" name="Text 25"/>
          <p:cNvSpPr/>
          <p:nvPr/>
        </p:nvSpPr>
        <p:spPr>
          <a:xfrm>
            <a:off x="5705847" y="3855021"/>
            <a:ext cx="144602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720" dirty="0">
                <a:solidFill>
                  <a:srgbClr val="8486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decision that matters</a:t>
            </a:r>
            <a:endParaRPr lang="en-US" sz="72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4618" y="3361358"/>
            <a:ext cx="1280145" cy="5143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9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0535" y="1737345"/>
            <a:ext cx="6629400" cy="6629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772397"/>
            <a:ext cx="2244693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spc="52" kern="0" dirty="0">
                <a:solidFill>
                  <a:srgbClr val="6D6F7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DATA → MODEL → OUTCOME → ALERT</a:t>
            </a:r>
            <a:endParaRPr lang="en-US" sz="650" dirty="0"/>
          </a:p>
        </p:txBody>
      </p:sp>
      <p:sp>
        <p:nvSpPr>
          <p:cNvPr id="5" name="Shape 1"/>
          <p:cNvSpPr/>
          <p:nvPr/>
        </p:nvSpPr>
        <p:spPr>
          <a:xfrm>
            <a:off x="456902" y="261417"/>
            <a:ext cx="128588" cy="128588"/>
          </a:xfrm>
          <a:prstGeom prst="roundRect">
            <a:avLst>
              <a:gd name="adj" fmla="val 21333"/>
            </a:avLst>
          </a:prstGeom>
          <a:solidFill>
            <a:srgbClr val="4F7FFF"/>
          </a:solidFill>
          <a:ln/>
        </p:spPr>
      </p:sp>
      <p:sp>
        <p:nvSpPr>
          <p:cNvPr id="6" name="Text 2"/>
          <p:cNvSpPr/>
          <p:nvPr/>
        </p:nvSpPr>
        <p:spPr>
          <a:xfrm>
            <a:off x="676573" y="266700"/>
            <a:ext cx="74476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spc="14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 Loss</a:t>
            </a:r>
            <a:endParaRPr lang="en-US" sz="720" dirty="0"/>
          </a:p>
        </p:txBody>
      </p:sp>
      <p:sp>
        <p:nvSpPr>
          <p:cNvPr id="7" name="Text 3"/>
          <p:cNvSpPr/>
          <p:nvPr/>
        </p:nvSpPr>
        <p:spPr>
          <a:xfrm>
            <a:off x="8294117" y="266700"/>
            <a:ext cx="56763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spc="52" kern="0" dirty="0">
                <a:solidFill>
                  <a:srgbClr val="6D6F7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 / 06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640035" y="1290712"/>
            <a:ext cx="146420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15"/>
              </a:spcAft>
              <a:buNone/>
            </a:pPr>
            <a:r>
              <a:rPr lang="en-US" sz="790" b="1" spc="111" kern="0" dirty="0">
                <a:solidFill>
                  <a:srgbClr val="7C6B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THE SYSTEM</a:t>
            </a:r>
            <a:endParaRPr lang="en-US" sz="790" dirty="0"/>
          </a:p>
        </p:txBody>
      </p:sp>
      <p:sp>
        <p:nvSpPr>
          <p:cNvPr id="9" name="Text 5"/>
          <p:cNvSpPr/>
          <p:nvPr/>
        </p:nvSpPr>
        <p:spPr>
          <a:xfrm>
            <a:off x="640035" y="1548259"/>
            <a:ext cx="4093942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660" b="1" spc="-13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control room for</a:t>
            </a:r>
            <a:endParaRPr lang="en-US" sz="2660" dirty="0"/>
          </a:p>
        </p:txBody>
      </p:sp>
      <p:sp>
        <p:nvSpPr>
          <p:cNvPr id="10" name="Text 6"/>
          <p:cNvSpPr/>
          <p:nvPr/>
        </p:nvSpPr>
        <p:spPr>
          <a:xfrm>
            <a:off x="640035" y="1900089"/>
            <a:ext cx="3829846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660" b="1" spc="-13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full signal chain</a:t>
            </a:r>
            <a:endParaRPr lang="en-US" sz="2660" dirty="0"/>
          </a:p>
        </p:txBody>
      </p:sp>
      <p:sp>
        <p:nvSpPr>
          <p:cNvPr id="11" name="Text 7"/>
          <p:cNvSpPr/>
          <p:nvPr/>
        </p:nvSpPr>
        <p:spPr>
          <a:xfrm>
            <a:off x="772492" y="2500461"/>
            <a:ext cx="443233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CACA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realistic e-commerce recommendation events</a:t>
            </a:r>
            <a:endParaRPr lang="en-US" sz="1010" dirty="0"/>
          </a:p>
        </p:txBody>
      </p:sp>
      <p:sp>
        <p:nvSpPr>
          <p:cNvPr id="12" name="Text 8"/>
          <p:cNvSpPr/>
          <p:nvPr/>
        </p:nvSpPr>
        <p:spPr>
          <a:xfrm>
            <a:off x="772492" y="2758083"/>
            <a:ext cx="399884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CACA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duplicates, invalid values, missing data, and</a:t>
            </a:r>
            <a:endParaRPr lang="en-US" sz="1010" dirty="0"/>
          </a:p>
        </p:txBody>
      </p:sp>
      <p:sp>
        <p:nvSpPr>
          <p:cNvPr id="13" name="Text 9"/>
          <p:cNvSpPr/>
          <p:nvPr/>
        </p:nvSpPr>
        <p:spPr>
          <a:xfrm>
            <a:off x="640035" y="2930872"/>
            <a:ext cx="98448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CACA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noisy labels</a:t>
            </a:r>
            <a:endParaRPr lang="en-US" sz="1010" dirty="0"/>
          </a:p>
        </p:txBody>
      </p:sp>
      <p:sp>
        <p:nvSpPr>
          <p:cNvPr id="14" name="Text 10"/>
          <p:cNvSpPr/>
          <p:nvPr/>
        </p:nvSpPr>
        <p:spPr>
          <a:xfrm>
            <a:off x="772492" y="3188494"/>
            <a:ext cx="413786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CACA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an explainable logistic recommendation model</a:t>
            </a:r>
            <a:endParaRPr lang="en-US" sz="1010" dirty="0"/>
          </a:p>
        </p:txBody>
      </p:sp>
      <p:sp>
        <p:nvSpPr>
          <p:cNvPr id="15" name="Text 11"/>
          <p:cNvSpPr/>
          <p:nvPr/>
        </p:nvSpPr>
        <p:spPr>
          <a:xfrm>
            <a:off x="772492" y="3446115"/>
            <a:ext cx="343273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CACA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Join delayed outcomes back to predictions</a:t>
            </a:r>
            <a:endParaRPr lang="en-US" sz="1010" dirty="0"/>
          </a:p>
        </p:txBody>
      </p:sp>
      <p:sp>
        <p:nvSpPr>
          <p:cNvPr id="16" name="Text 12"/>
          <p:cNvSpPr/>
          <p:nvPr/>
        </p:nvSpPr>
        <p:spPr>
          <a:xfrm>
            <a:off x="772492" y="3703737"/>
            <a:ext cx="416320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CACA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drift, performance, alerts, and business loss</a:t>
            </a:r>
            <a:endParaRPr lang="en-US" sz="1010" dirty="0"/>
          </a:p>
        </p:txBody>
      </p:sp>
      <p:sp>
        <p:nvSpPr>
          <p:cNvPr id="17" name="Shape 13"/>
          <p:cNvSpPr/>
          <p:nvPr/>
        </p:nvSpPr>
        <p:spPr>
          <a:xfrm>
            <a:off x="4937187" y="952463"/>
            <a:ext cx="3567113" cy="3238500"/>
          </a:xfrm>
          <a:prstGeom prst="roundRect">
            <a:avLst>
              <a:gd name="adj" fmla="val 2824"/>
            </a:avLst>
          </a:prstGeom>
          <a:solidFill>
            <a:srgbClr val="131726">
              <a:alpha val="86000"/>
            </a:srgbClr>
          </a:solidFill>
          <a:ln w="4763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257175" dist="102870" dir="5400000">
              <a:srgbClr val="000000">
                <a:alpha val="2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>
            <a:off x="4941950" y="957225"/>
            <a:ext cx="3557588" cy="322897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06963" y="1130350"/>
            <a:ext cx="135363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spc="76" kern="0" dirty="0">
                <a:solidFill>
                  <a:srgbClr val="8486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MONITORING</a:t>
            </a:r>
            <a:endParaRPr lang="en-US" sz="760" dirty="0"/>
          </a:p>
        </p:txBody>
      </p:sp>
      <p:sp>
        <p:nvSpPr>
          <p:cNvPr id="20" name="Shape 15"/>
          <p:cNvSpPr/>
          <p:nvPr/>
        </p:nvSpPr>
        <p:spPr>
          <a:xfrm>
            <a:off x="7737202" y="1164208"/>
            <a:ext cx="57150" cy="57150"/>
          </a:xfrm>
          <a:prstGeom prst="ellipse">
            <a:avLst/>
          </a:prstGeom>
          <a:solidFill>
            <a:srgbClr val="4F7FFF"/>
          </a:solidFill>
          <a:ln/>
          <a:effectLst>
            <a:outerShdw sx="100000" sy="100000" kx="0" ky="0" algn="bl" rotWithShape="0" blurRad="100584" dist="50800" dir="16200000">
              <a:srgbClr val="4F7FFF">
                <a:alpha val="80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7850312" y="1140619"/>
            <a:ext cx="68662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7C6B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</a:t>
            </a:r>
            <a:endParaRPr lang="en-US" sz="650" dirty="0"/>
          </a:p>
        </p:txBody>
      </p:sp>
      <p:sp>
        <p:nvSpPr>
          <p:cNvPr id="22" name="Shape 17"/>
          <p:cNvSpPr/>
          <p:nvPr/>
        </p:nvSpPr>
        <p:spPr>
          <a:xfrm>
            <a:off x="5107558" y="1419560"/>
            <a:ext cx="1566862" cy="966787"/>
          </a:xfrm>
          <a:prstGeom prst="roundRect">
            <a:avLst>
              <a:gd name="adj" fmla="val 6621"/>
            </a:avLst>
          </a:prstGeom>
          <a:solidFill>
            <a:srgbClr val="FFFFFF">
              <a:alpha val="4300"/>
            </a:srgbClr>
          </a:solidFill>
          <a:ln w="476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212259" y="1533897"/>
            <a:ext cx="126850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spc="76" kern="0" dirty="0">
                <a:solidFill>
                  <a:srgbClr val="89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DRIFT PRESSURE</a:t>
            </a:r>
            <a:endParaRPr lang="en-US" sz="760" dirty="0"/>
          </a:p>
        </p:txBody>
      </p:sp>
      <p:sp>
        <p:nvSpPr>
          <p:cNvPr id="24" name="Text 19"/>
          <p:cNvSpPr/>
          <p:nvPr/>
        </p:nvSpPr>
        <p:spPr>
          <a:xfrm>
            <a:off x="5212259" y="1676921"/>
            <a:ext cx="1338449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3170" b="1" spc="-190" kern="0" dirty="0">
                <a:solidFill>
                  <a:srgbClr val="4F7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10.86</a:t>
            </a:r>
            <a:endParaRPr lang="en-US" sz="3170" dirty="0"/>
          </a:p>
        </p:txBody>
      </p:sp>
      <p:sp>
        <p:nvSpPr>
          <p:cNvPr id="25" name="Text 20"/>
          <p:cNvSpPr/>
          <p:nvPr/>
        </p:nvSpPr>
        <p:spPr>
          <a:xfrm>
            <a:off x="5212259" y="2167607"/>
            <a:ext cx="110821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84"/>
              </a:spcBef>
              <a:buNone/>
            </a:pPr>
            <a:r>
              <a:rPr lang="en-US" sz="650" dirty="0">
                <a:solidFill>
                  <a:srgbClr val="89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PSI / current window</a:t>
            </a:r>
            <a:endParaRPr lang="en-US" sz="650" dirty="0"/>
          </a:p>
        </p:txBody>
      </p:sp>
      <p:sp>
        <p:nvSpPr>
          <p:cNvPr id="26" name="Shape 21"/>
          <p:cNvSpPr/>
          <p:nvPr/>
        </p:nvSpPr>
        <p:spPr>
          <a:xfrm>
            <a:off x="6767029" y="1419560"/>
            <a:ext cx="1566862" cy="966787"/>
          </a:xfrm>
          <a:prstGeom prst="roundRect">
            <a:avLst>
              <a:gd name="adj" fmla="val 6621"/>
            </a:avLst>
          </a:prstGeom>
          <a:solidFill>
            <a:srgbClr val="FFFFFF">
              <a:alpha val="4300"/>
            </a:srgbClr>
          </a:solidFill>
          <a:ln w="476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871692" y="1533897"/>
            <a:ext cx="113791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spc="76" kern="0" dirty="0">
                <a:solidFill>
                  <a:srgbClr val="89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</a:t>
            </a:r>
            <a:endParaRPr lang="en-US" sz="760" dirty="0"/>
          </a:p>
        </p:txBody>
      </p:sp>
      <p:sp>
        <p:nvSpPr>
          <p:cNvPr id="28" name="Text 23"/>
          <p:cNvSpPr/>
          <p:nvPr/>
        </p:nvSpPr>
        <p:spPr>
          <a:xfrm>
            <a:off x="6871692" y="1676921"/>
            <a:ext cx="1858610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3170" b="1" spc="-190" kern="0" dirty="0">
                <a:solidFill>
                  <a:srgbClr val="9A8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73.97%</a:t>
            </a:r>
            <a:endParaRPr lang="en-US" sz="3170" dirty="0"/>
          </a:p>
        </p:txBody>
      </p:sp>
      <p:sp>
        <p:nvSpPr>
          <p:cNvPr id="29" name="Text 24"/>
          <p:cNvSpPr/>
          <p:nvPr/>
        </p:nvSpPr>
        <p:spPr>
          <a:xfrm>
            <a:off x="6871692" y="2167607"/>
            <a:ext cx="116944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84"/>
              </a:spcBef>
              <a:buNone/>
            </a:pPr>
            <a:r>
              <a:rPr lang="en-US" sz="650" dirty="0">
                <a:solidFill>
                  <a:srgbClr val="89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outcome-aware score</a:t>
            </a:r>
            <a:endParaRPr lang="en-US" sz="650" dirty="0"/>
          </a:p>
        </p:txBody>
      </p:sp>
      <p:sp>
        <p:nvSpPr>
          <p:cNvPr id="30" name="Shape 25"/>
          <p:cNvSpPr/>
          <p:nvPr/>
        </p:nvSpPr>
        <p:spPr>
          <a:xfrm>
            <a:off x="5106256" y="2478695"/>
            <a:ext cx="3228975" cy="966787"/>
          </a:xfrm>
          <a:prstGeom prst="roundRect">
            <a:avLst>
              <a:gd name="adj" fmla="val 6621"/>
            </a:avLst>
          </a:prstGeom>
          <a:solidFill>
            <a:srgbClr val="FFFFFF">
              <a:alpha val="4300"/>
            </a:srgbClr>
          </a:solidFill>
          <a:ln w="476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212259" y="2593032"/>
            <a:ext cx="158522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spc="76" kern="0" dirty="0">
                <a:solidFill>
                  <a:srgbClr val="89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EXPOSURE</a:t>
            </a:r>
            <a:endParaRPr lang="en-US" sz="760" dirty="0"/>
          </a:p>
        </p:txBody>
      </p:sp>
      <p:sp>
        <p:nvSpPr>
          <p:cNvPr id="32" name="Text 27"/>
          <p:cNvSpPr/>
          <p:nvPr/>
        </p:nvSpPr>
        <p:spPr>
          <a:xfrm>
            <a:off x="5212259" y="2736056"/>
            <a:ext cx="2435654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3170" b="1" spc="-1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$1,545.46</a:t>
            </a:r>
            <a:endParaRPr lang="en-US" sz="3170" dirty="0"/>
          </a:p>
        </p:txBody>
      </p:sp>
      <p:sp>
        <p:nvSpPr>
          <p:cNvPr id="33" name="Text 28"/>
          <p:cNvSpPr/>
          <p:nvPr/>
        </p:nvSpPr>
        <p:spPr>
          <a:xfrm>
            <a:off x="5212259" y="3226743"/>
            <a:ext cx="142822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84"/>
              </a:spcBef>
              <a:buNone/>
            </a:pPr>
            <a:r>
              <a:rPr lang="en-US" sz="650" dirty="0">
                <a:solidFill>
                  <a:srgbClr val="89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normalized cumulative loss</a:t>
            </a:r>
            <a:endParaRPr lang="en-US" sz="650" dirty="0"/>
          </a:p>
        </p:txBody>
      </p:sp>
      <p:sp>
        <p:nvSpPr>
          <p:cNvPr id="34" name="Shape 29"/>
          <p:cNvSpPr/>
          <p:nvPr/>
        </p:nvSpPr>
        <p:spPr>
          <a:xfrm>
            <a:off x="5106256" y="3537458"/>
            <a:ext cx="3228975" cy="1228725"/>
          </a:xfrm>
          <a:prstGeom prst="roundRect">
            <a:avLst>
              <a:gd name="adj" fmla="val 5209"/>
            </a:avLst>
          </a:prstGeom>
          <a:solidFill>
            <a:srgbClr val="FFFFFF">
              <a:alpha val="4300"/>
            </a:srgbClr>
          </a:solidFill>
          <a:ln w="476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5212259" y="3652168"/>
            <a:ext cx="110830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spc="76" kern="0" dirty="0">
                <a:solidFill>
                  <a:srgbClr val="898B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 TRACE</a:t>
            </a:r>
            <a:endParaRPr lang="en-US" sz="760" dirty="0"/>
          </a:p>
        </p:txBody>
      </p:sp>
      <p:sp>
        <p:nvSpPr>
          <p:cNvPr id="36" name="Text 31"/>
          <p:cNvSpPr/>
          <p:nvPr/>
        </p:nvSpPr>
        <p:spPr>
          <a:xfrm>
            <a:off x="7788771" y="3669283"/>
            <a:ext cx="629744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898B9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24 WINDOWS</a:t>
            </a:r>
            <a:endParaRPr lang="en-US" sz="58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259" y="3889474"/>
            <a:ext cx="3016969" cy="7715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9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469818" y="-2469818"/>
            <a:ext cx="6036945" cy="603694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772397"/>
            <a:ext cx="2682143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spc="52" kern="0" dirty="0">
                <a:solidFill>
                  <a:srgbClr val="6D6F7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DISTRIBUTION SIGNAL + OUTCOME SIGNAL</a:t>
            </a:r>
            <a:endParaRPr lang="en-US" sz="650" dirty="0"/>
          </a:p>
        </p:txBody>
      </p:sp>
      <p:sp>
        <p:nvSpPr>
          <p:cNvPr id="5" name="Shape 1"/>
          <p:cNvSpPr/>
          <p:nvPr/>
        </p:nvSpPr>
        <p:spPr>
          <a:xfrm>
            <a:off x="456902" y="261417"/>
            <a:ext cx="128588" cy="128588"/>
          </a:xfrm>
          <a:prstGeom prst="roundRect">
            <a:avLst>
              <a:gd name="adj" fmla="val 21333"/>
            </a:avLst>
          </a:prstGeom>
          <a:solidFill>
            <a:srgbClr val="4F7FFF"/>
          </a:solidFill>
          <a:ln/>
        </p:spPr>
      </p:sp>
      <p:sp>
        <p:nvSpPr>
          <p:cNvPr id="6" name="Text 2"/>
          <p:cNvSpPr/>
          <p:nvPr/>
        </p:nvSpPr>
        <p:spPr>
          <a:xfrm>
            <a:off x="676573" y="266700"/>
            <a:ext cx="74476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spc="14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 Loss</a:t>
            </a:r>
            <a:endParaRPr lang="en-US" sz="720" dirty="0"/>
          </a:p>
        </p:txBody>
      </p:sp>
      <p:sp>
        <p:nvSpPr>
          <p:cNvPr id="7" name="Text 3"/>
          <p:cNvSpPr/>
          <p:nvPr/>
        </p:nvSpPr>
        <p:spPr>
          <a:xfrm>
            <a:off x="8294117" y="266700"/>
            <a:ext cx="56763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spc="52" kern="0" dirty="0">
                <a:solidFill>
                  <a:srgbClr val="6D6F7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 / 06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640035" y="990079"/>
            <a:ext cx="157845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013"/>
              </a:spcAft>
              <a:buNone/>
            </a:pPr>
            <a:r>
              <a:rPr lang="en-US" sz="790" b="1" spc="111" kern="0" dirty="0">
                <a:solidFill>
                  <a:srgbClr val="7C6B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THE DECISION</a:t>
            </a:r>
            <a:endParaRPr lang="en-US" sz="790" dirty="0"/>
          </a:p>
        </p:txBody>
      </p:sp>
      <p:sp>
        <p:nvSpPr>
          <p:cNvPr id="9" name="Text 5"/>
          <p:cNvSpPr/>
          <p:nvPr/>
        </p:nvSpPr>
        <p:spPr>
          <a:xfrm>
            <a:off x="640035" y="1221953"/>
            <a:ext cx="5179539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660" b="1" spc="-13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clocks. One decision.</a:t>
            </a:r>
            <a:endParaRPr lang="en-US" sz="2660" dirty="0"/>
          </a:p>
        </p:txBody>
      </p:sp>
      <p:sp>
        <p:nvSpPr>
          <p:cNvPr id="10" name="Shape 6"/>
          <p:cNvSpPr/>
          <p:nvPr/>
        </p:nvSpPr>
        <p:spPr>
          <a:xfrm>
            <a:off x="640519" y="1916088"/>
            <a:ext cx="2528888" cy="1447800"/>
          </a:xfrm>
          <a:prstGeom prst="roundRect">
            <a:avLst>
              <a:gd name="adj" fmla="val 6316"/>
            </a:avLst>
          </a:prstGeom>
          <a:solidFill>
            <a:srgbClr val="131726">
              <a:alpha val="86000"/>
            </a:srgbClr>
          </a:solidFill>
          <a:ln w="4763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257175" dist="102870" dir="5400000">
              <a:srgbClr val="000000">
                <a:alpha val="2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09327" y="2099295"/>
            <a:ext cx="24598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spc="95" kern="0" dirty="0">
                <a:solidFill>
                  <a:srgbClr val="4B4E5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790" dirty="0"/>
          </a:p>
        </p:txBody>
      </p:sp>
      <p:sp>
        <p:nvSpPr>
          <p:cNvPr id="12" name="Text 8"/>
          <p:cNvSpPr/>
          <p:nvPr/>
        </p:nvSpPr>
        <p:spPr>
          <a:xfrm>
            <a:off x="809327" y="2413992"/>
            <a:ext cx="43355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1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PSI</a:t>
            </a:r>
            <a:endParaRPr lang="en-US" sz="1440" dirty="0"/>
          </a:p>
        </p:txBody>
      </p:sp>
      <p:sp>
        <p:nvSpPr>
          <p:cNvPr id="13" name="Shape 9"/>
          <p:cNvSpPr/>
          <p:nvPr/>
        </p:nvSpPr>
        <p:spPr>
          <a:xfrm>
            <a:off x="809588" y="2767385"/>
            <a:ext cx="2190750" cy="4763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809327" y="2884512"/>
            <a:ext cx="2883746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900" dirty="0">
                <a:solidFill>
                  <a:srgbClr val="B8B9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PSI catches distribution movement early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307519" y="1916088"/>
            <a:ext cx="2528888" cy="1447800"/>
          </a:xfrm>
          <a:prstGeom prst="roundRect">
            <a:avLst>
              <a:gd name="adj" fmla="val 6316"/>
            </a:avLst>
          </a:prstGeom>
          <a:solidFill>
            <a:srgbClr val="131726">
              <a:alpha val="86000"/>
            </a:srgbClr>
          </a:solidFill>
          <a:ln w="4763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257175" dist="102870" dir="5400000">
              <a:srgbClr val="000000">
                <a:alpha val="2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3476327" y="2099295"/>
            <a:ext cx="24598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spc="95" kern="0" dirty="0">
                <a:solidFill>
                  <a:srgbClr val="4B4E5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790" dirty="0"/>
          </a:p>
        </p:txBody>
      </p:sp>
      <p:sp>
        <p:nvSpPr>
          <p:cNvPr id="17" name="Text 13"/>
          <p:cNvSpPr/>
          <p:nvPr/>
        </p:nvSpPr>
        <p:spPr>
          <a:xfrm>
            <a:off x="3476327" y="2413992"/>
            <a:ext cx="162169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1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Page-Hinkley</a:t>
            </a:r>
            <a:endParaRPr lang="en-US" sz="1440" dirty="0"/>
          </a:p>
        </p:txBody>
      </p:sp>
      <p:sp>
        <p:nvSpPr>
          <p:cNvPr id="18" name="Shape 14"/>
          <p:cNvSpPr/>
          <p:nvPr/>
        </p:nvSpPr>
        <p:spPr>
          <a:xfrm>
            <a:off x="3476588" y="2767385"/>
            <a:ext cx="2190750" cy="4763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3476327" y="2884512"/>
            <a:ext cx="2655830" cy="298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8B9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Page-Hinkley-style residuals confirm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8B9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outcome-aware degradation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974519" y="1916088"/>
            <a:ext cx="2528888" cy="1447800"/>
          </a:xfrm>
          <a:prstGeom prst="roundRect">
            <a:avLst>
              <a:gd name="adj" fmla="val 6316"/>
            </a:avLst>
          </a:prstGeom>
          <a:solidFill>
            <a:srgbClr val="7B6BEF">
              <a:alpha val="12157"/>
            </a:srgbClr>
          </a:solidFill>
          <a:ln w="4763">
            <a:solidFill>
              <a:srgbClr val="7B6BF0">
                <a:alpha val="60000"/>
              </a:srgbClr>
            </a:solidFill>
            <a:prstDash val="solid"/>
          </a:ln>
          <a:effectLst>
            <a:outerShdw sx="100000" sy="100000" kx="0" ky="0" algn="bl" rotWithShape="0" blurRad="257175" dist="102870" dir="5400000">
              <a:srgbClr val="7C6BF0">
                <a:alpha val="16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143327" y="2099295"/>
            <a:ext cx="24598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spc="95" kern="0" dirty="0">
                <a:solidFill>
                  <a:srgbClr val="51516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790" dirty="0"/>
          </a:p>
        </p:txBody>
      </p:sp>
      <p:sp>
        <p:nvSpPr>
          <p:cNvPr id="22" name="Text 18"/>
          <p:cNvSpPr/>
          <p:nvPr/>
        </p:nvSpPr>
        <p:spPr>
          <a:xfrm>
            <a:off x="6143327" y="2413992"/>
            <a:ext cx="84276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1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</a:t>
            </a:r>
            <a:endParaRPr lang="en-US" sz="1440" dirty="0"/>
          </a:p>
        </p:txBody>
      </p:sp>
      <p:sp>
        <p:nvSpPr>
          <p:cNvPr id="23" name="Shape 19"/>
          <p:cNvSpPr/>
          <p:nvPr/>
        </p:nvSpPr>
        <p:spPr>
          <a:xfrm>
            <a:off x="6143588" y="2767385"/>
            <a:ext cx="2190750" cy="4763"/>
          </a:xfrm>
          <a:prstGeom prst="rect">
            <a:avLst/>
          </a:prstGeom>
          <a:solidFill>
            <a:srgbClr val="7C6CEF">
              <a:alpha val="50196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6143327" y="2884512"/>
            <a:ext cx="2669374" cy="298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1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logic escalates when drift and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D1D1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 evidence agree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640035" y="3579465"/>
            <a:ext cx="171185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spc="76" kern="0" dirty="0">
                <a:solidFill>
                  <a:srgbClr val="8182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SELECTED THRESHOLD</a:t>
            </a:r>
            <a:endParaRPr lang="en-US" sz="760" dirty="0"/>
          </a:p>
        </p:txBody>
      </p:sp>
      <p:sp>
        <p:nvSpPr>
          <p:cNvPr id="26" name="Text 22"/>
          <p:cNvSpPr/>
          <p:nvPr/>
        </p:nvSpPr>
        <p:spPr>
          <a:xfrm>
            <a:off x="640035" y="3722489"/>
            <a:ext cx="978098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3170" b="1" spc="-190" kern="0" dirty="0">
                <a:solidFill>
                  <a:srgbClr val="4F7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0.12</a:t>
            </a:r>
            <a:endParaRPr lang="en-US" sz="3170" dirty="0"/>
          </a:p>
        </p:txBody>
      </p:sp>
      <p:sp>
        <p:nvSpPr>
          <p:cNvPr id="27" name="Shape 23"/>
          <p:cNvSpPr/>
          <p:nvPr/>
        </p:nvSpPr>
        <p:spPr>
          <a:xfrm>
            <a:off x="2278633" y="3664037"/>
            <a:ext cx="4763" cy="409575"/>
          </a:xfrm>
          <a:prstGeom prst="rect">
            <a:avLst/>
          </a:prstGeom>
          <a:solidFill>
            <a:srgbClr val="FFFFFF">
              <a:alpha val="14902"/>
            </a:srgbClr>
          </a:solidFill>
          <a:ln/>
        </p:spPr>
      </p:sp>
      <p:sp>
        <p:nvSpPr>
          <p:cNvPr id="28" name="Text 24"/>
          <p:cNvSpPr/>
          <p:nvPr/>
        </p:nvSpPr>
        <p:spPr>
          <a:xfrm>
            <a:off x="2649141" y="3579465"/>
            <a:ext cx="242627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spc="76" kern="0" dirty="0">
                <a:solidFill>
                  <a:srgbClr val="8182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HEALTHY-PERIOD FALSE ALARMS</a:t>
            </a:r>
            <a:endParaRPr lang="en-US" sz="760" dirty="0"/>
          </a:p>
        </p:txBody>
      </p:sp>
      <p:sp>
        <p:nvSpPr>
          <p:cNvPr id="29" name="Text 25"/>
          <p:cNvSpPr/>
          <p:nvPr/>
        </p:nvSpPr>
        <p:spPr>
          <a:xfrm>
            <a:off x="2649141" y="3722489"/>
            <a:ext cx="387608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3170" b="1" spc="-190" kern="0" dirty="0">
                <a:solidFill>
                  <a:srgbClr val="9A8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31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9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4375" y="-3039405"/>
            <a:ext cx="6810375" cy="68103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772397"/>
            <a:ext cx="2682143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spc="52" kern="0" dirty="0">
                <a:solidFill>
                  <a:srgbClr val="6D6F7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DETECTION BEFORE UNACCEPTABLE IMPACT</a:t>
            </a:r>
            <a:endParaRPr lang="en-US" sz="650" dirty="0"/>
          </a:p>
        </p:txBody>
      </p:sp>
      <p:sp>
        <p:nvSpPr>
          <p:cNvPr id="5" name="Shape 1"/>
          <p:cNvSpPr/>
          <p:nvPr/>
        </p:nvSpPr>
        <p:spPr>
          <a:xfrm>
            <a:off x="456902" y="261417"/>
            <a:ext cx="128588" cy="128588"/>
          </a:xfrm>
          <a:prstGeom prst="roundRect">
            <a:avLst>
              <a:gd name="adj" fmla="val 21333"/>
            </a:avLst>
          </a:prstGeom>
          <a:solidFill>
            <a:srgbClr val="4F7FFF"/>
          </a:solidFill>
          <a:ln/>
        </p:spPr>
      </p:sp>
      <p:sp>
        <p:nvSpPr>
          <p:cNvPr id="6" name="Text 2"/>
          <p:cNvSpPr/>
          <p:nvPr/>
        </p:nvSpPr>
        <p:spPr>
          <a:xfrm>
            <a:off x="676573" y="266700"/>
            <a:ext cx="74476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spc="14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 Loss</a:t>
            </a:r>
            <a:endParaRPr lang="en-US" sz="720" dirty="0"/>
          </a:p>
        </p:txBody>
      </p:sp>
      <p:sp>
        <p:nvSpPr>
          <p:cNvPr id="7" name="Text 3"/>
          <p:cNvSpPr/>
          <p:nvPr/>
        </p:nvSpPr>
        <p:spPr>
          <a:xfrm>
            <a:off x="8294117" y="266700"/>
            <a:ext cx="56763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spc="52" kern="0" dirty="0">
                <a:solidFill>
                  <a:srgbClr val="6D6F7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 / 06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640035" y="1282154"/>
            <a:ext cx="141187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15"/>
              </a:spcAft>
              <a:buNone/>
            </a:pPr>
            <a:r>
              <a:rPr lang="en-US" sz="790" b="1" spc="111" kern="0" dirty="0">
                <a:solidFill>
                  <a:srgbClr val="7C6B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THE RESULT</a:t>
            </a:r>
            <a:endParaRPr lang="en-US" sz="790" dirty="0"/>
          </a:p>
        </p:txBody>
      </p:sp>
      <p:sp>
        <p:nvSpPr>
          <p:cNvPr id="9" name="Text 5"/>
          <p:cNvSpPr/>
          <p:nvPr/>
        </p:nvSpPr>
        <p:spPr>
          <a:xfrm>
            <a:off x="640035" y="1539701"/>
            <a:ext cx="3549692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660" b="1" spc="-13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signal arrives</a:t>
            </a:r>
            <a:endParaRPr lang="en-US" sz="2660" dirty="0"/>
          </a:p>
        </p:txBody>
      </p:sp>
      <p:sp>
        <p:nvSpPr>
          <p:cNvPr id="10" name="Text 6"/>
          <p:cNvSpPr/>
          <p:nvPr/>
        </p:nvSpPr>
        <p:spPr>
          <a:xfrm>
            <a:off x="640035" y="1891531"/>
            <a:ext cx="2985708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660" b="1" spc="-13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the limit</a:t>
            </a:r>
            <a:endParaRPr lang="en-US" sz="2660" dirty="0"/>
          </a:p>
        </p:txBody>
      </p:sp>
      <p:sp>
        <p:nvSpPr>
          <p:cNvPr id="11" name="Shape 7"/>
          <p:cNvSpPr/>
          <p:nvPr/>
        </p:nvSpPr>
        <p:spPr>
          <a:xfrm>
            <a:off x="639068" y="2482379"/>
            <a:ext cx="1647825" cy="4763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772492" y="2702347"/>
            <a:ext cx="347839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CACA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97,800 clean events from 100,632 raw rows</a:t>
            </a:r>
            <a:endParaRPr lang="en-US" sz="1010" dirty="0"/>
          </a:p>
        </p:txBody>
      </p:sp>
      <p:sp>
        <p:nvSpPr>
          <p:cNvPr id="13" name="Text 9"/>
          <p:cNvSpPr/>
          <p:nvPr/>
        </p:nvSpPr>
        <p:spPr>
          <a:xfrm>
            <a:off x="772492" y="2954834"/>
            <a:ext cx="273215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CACA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model accuracy: 69.88%</a:t>
            </a:r>
            <a:endParaRPr lang="en-US" sz="1010" dirty="0"/>
          </a:p>
        </p:txBody>
      </p:sp>
      <p:sp>
        <p:nvSpPr>
          <p:cNvPr id="14" name="Text 10"/>
          <p:cNvSpPr/>
          <p:nvPr/>
        </p:nvSpPr>
        <p:spPr>
          <a:xfrm>
            <a:off x="772492" y="3207321"/>
            <a:ext cx="279049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CACA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detection: early-drift phase</a:t>
            </a:r>
            <a:endParaRPr lang="en-US" sz="1010" dirty="0"/>
          </a:p>
        </p:txBody>
      </p:sp>
      <p:sp>
        <p:nvSpPr>
          <p:cNvPr id="15" name="Text 11"/>
          <p:cNvSpPr/>
          <p:nvPr/>
        </p:nvSpPr>
        <p:spPr>
          <a:xfrm>
            <a:off x="772492" y="3459807"/>
            <a:ext cx="262661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CACA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Detection delay: 1 phase window</a:t>
            </a:r>
            <a:endParaRPr lang="en-US" sz="1010" dirty="0"/>
          </a:p>
        </p:txBody>
      </p:sp>
      <p:sp>
        <p:nvSpPr>
          <p:cNvPr id="16" name="Text 12"/>
          <p:cNvSpPr/>
          <p:nvPr/>
        </p:nvSpPr>
        <p:spPr>
          <a:xfrm>
            <a:off x="772492" y="3712294"/>
            <a:ext cx="376899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CACA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Selected hybrid precision / recall: 100% / 100%</a:t>
            </a:r>
            <a:endParaRPr lang="en-US" sz="1010" dirty="0"/>
          </a:p>
        </p:txBody>
      </p:sp>
      <p:sp>
        <p:nvSpPr>
          <p:cNvPr id="17" name="Shape 13"/>
          <p:cNvSpPr/>
          <p:nvPr/>
        </p:nvSpPr>
        <p:spPr>
          <a:xfrm>
            <a:off x="4664236" y="1192076"/>
            <a:ext cx="3381375" cy="1738312"/>
          </a:xfrm>
          <a:prstGeom prst="roundRect">
            <a:avLst>
              <a:gd name="adj" fmla="val 6312"/>
            </a:avLst>
          </a:prstGeom>
          <a:solidFill>
            <a:srgbClr val="131726">
              <a:alpha val="86000"/>
            </a:srgbClr>
          </a:solidFill>
          <a:ln w="4763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257175" dist="102870" dir="5400000">
              <a:srgbClr val="000000">
                <a:alpha val="28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869210" y="1408509"/>
            <a:ext cx="153347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spc="76" kern="0" dirty="0">
                <a:solidFill>
                  <a:srgbClr val="8486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LOSS AT DETECTION</a:t>
            </a:r>
            <a:endParaRPr lang="en-US" sz="760" dirty="0"/>
          </a:p>
        </p:txBody>
      </p:sp>
      <p:sp>
        <p:nvSpPr>
          <p:cNvPr id="19" name="Text 15"/>
          <p:cNvSpPr/>
          <p:nvPr/>
        </p:nvSpPr>
        <p:spPr>
          <a:xfrm>
            <a:off x="4869210" y="1592684"/>
            <a:ext cx="2074240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729"/>
              </a:spcBef>
              <a:buNone/>
            </a:pPr>
            <a:r>
              <a:rPr lang="en-US" sz="3170" b="1" spc="-190" kern="0" dirty="0">
                <a:solidFill>
                  <a:srgbClr val="4F7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$285.46</a:t>
            </a:r>
            <a:endParaRPr lang="en-US" sz="3170" dirty="0"/>
          </a:p>
        </p:txBody>
      </p:sp>
      <p:sp>
        <p:nvSpPr>
          <p:cNvPr id="20" name="Text 16"/>
          <p:cNvSpPr/>
          <p:nvPr/>
        </p:nvSpPr>
        <p:spPr>
          <a:xfrm>
            <a:off x="4869210" y="2103611"/>
            <a:ext cx="173904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830" dirty="0">
                <a:solidFill>
                  <a:srgbClr val="9496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100 recommendations</a:t>
            </a:r>
            <a:endParaRPr lang="en-US" sz="830" dirty="0"/>
          </a:p>
        </p:txBody>
      </p:sp>
      <p:sp>
        <p:nvSpPr>
          <p:cNvPr id="21" name="Shape 17"/>
          <p:cNvSpPr/>
          <p:nvPr/>
        </p:nvSpPr>
        <p:spPr>
          <a:xfrm>
            <a:off x="4869024" y="2452576"/>
            <a:ext cx="297180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10196"/>
            </a:srgbClr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9917" y="2452576"/>
            <a:ext cx="1900238" cy="6191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869210" y="2595860"/>
            <a:ext cx="55370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9496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detected</a:t>
            </a:r>
            <a:endParaRPr lang="en-US" sz="720" dirty="0"/>
          </a:p>
        </p:txBody>
      </p:sp>
      <p:sp>
        <p:nvSpPr>
          <p:cNvPr id="24" name="Text 19"/>
          <p:cNvSpPr/>
          <p:nvPr/>
        </p:nvSpPr>
        <p:spPr>
          <a:xfrm>
            <a:off x="6321400" y="2595860"/>
            <a:ext cx="203215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A8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HARMFUL-IMPACT LIMIT $444.73</a:t>
            </a:r>
            <a:endParaRPr lang="en-US" sz="720" dirty="0"/>
          </a:p>
        </p:txBody>
      </p:sp>
      <p:sp>
        <p:nvSpPr>
          <p:cNvPr id="25" name="Shape 20"/>
          <p:cNvSpPr/>
          <p:nvPr/>
        </p:nvSpPr>
        <p:spPr>
          <a:xfrm>
            <a:off x="4662636" y="3049228"/>
            <a:ext cx="1633538" cy="900113"/>
          </a:xfrm>
          <a:prstGeom prst="roundRect">
            <a:avLst>
              <a:gd name="adj" fmla="val 9143"/>
            </a:avLst>
          </a:prstGeom>
          <a:solidFill>
            <a:srgbClr val="FFFFFF">
              <a:alpha val="4300"/>
            </a:srgbClr>
          </a:solidFill>
          <a:ln w="476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805214" y="3199656"/>
            <a:ext cx="140481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spc="76" kern="0" dirty="0">
                <a:solidFill>
                  <a:srgbClr val="8688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RETENTION</a:t>
            </a:r>
            <a:endParaRPr lang="en-US" sz="760" dirty="0"/>
          </a:p>
        </p:txBody>
      </p:sp>
      <p:sp>
        <p:nvSpPr>
          <p:cNvPr id="27" name="Text 22"/>
          <p:cNvSpPr/>
          <p:nvPr/>
        </p:nvSpPr>
        <p:spPr>
          <a:xfrm>
            <a:off x="4805214" y="3363218"/>
            <a:ext cx="1698121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567"/>
              </a:spcBef>
              <a:buNone/>
            </a:pPr>
            <a:r>
              <a:rPr lang="en-US" sz="3170" b="1" spc="-190" kern="0" dirty="0">
                <a:solidFill>
                  <a:srgbClr val="9A8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97.19%</a:t>
            </a:r>
            <a:endParaRPr lang="en-US" sz="3170" dirty="0"/>
          </a:p>
        </p:txBody>
      </p:sp>
      <p:sp>
        <p:nvSpPr>
          <p:cNvPr id="28" name="Shape 23"/>
          <p:cNvSpPr/>
          <p:nvPr/>
        </p:nvSpPr>
        <p:spPr>
          <a:xfrm>
            <a:off x="6413674" y="3049228"/>
            <a:ext cx="1633538" cy="900113"/>
          </a:xfrm>
          <a:prstGeom prst="roundRect">
            <a:avLst>
              <a:gd name="adj" fmla="val 9143"/>
            </a:avLst>
          </a:prstGeom>
          <a:solidFill>
            <a:srgbClr val="FFFFFF">
              <a:alpha val="4300"/>
            </a:srgbClr>
          </a:solidFill>
          <a:ln w="476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556251" y="3199656"/>
            <a:ext cx="159538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spc="76" kern="0" dirty="0">
                <a:solidFill>
                  <a:srgbClr val="8688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ACCURACY</a:t>
            </a:r>
            <a:endParaRPr lang="en-US" sz="760" dirty="0"/>
          </a:p>
        </p:txBody>
      </p:sp>
      <p:sp>
        <p:nvSpPr>
          <p:cNvPr id="30" name="Text 25"/>
          <p:cNvSpPr/>
          <p:nvPr/>
        </p:nvSpPr>
        <p:spPr>
          <a:xfrm>
            <a:off x="6556251" y="3363218"/>
            <a:ext cx="1945965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567"/>
              </a:spcBef>
              <a:buNone/>
            </a:pPr>
            <a:r>
              <a:rPr lang="en-US" sz="3170" b="1" spc="-1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69.88%</a:t>
            </a:r>
            <a:endParaRPr lang="en-US" sz="31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9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286424" y="1942601"/>
            <a:ext cx="6584632" cy="658463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>
            <a:alphaModFix amt="9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21685" y="-616334"/>
            <a:ext cx="5895975" cy="58959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57200" y="4772397"/>
            <a:ext cx="2609203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spc="52" kern="0" dirty="0">
                <a:solidFill>
                  <a:srgbClr val="6D6F7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REPRODUCIBLE · TESTED · RECOVERABLE</a:t>
            </a:r>
            <a:endParaRPr lang="en-US" sz="650" dirty="0"/>
          </a:p>
        </p:txBody>
      </p:sp>
      <p:sp>
        <p:nvSpPr>
          <p:cNvPr id="6" name="Shape 1"/>
          <p:cNvSpPr/>
          <p:nvPr/>
        </p:nvSpPr>
        <p:spPr>
          <a:xfrm>
            <a:off x="456902" y="261417"/>
            <a:ext cx="128588" cy="128588"/>
          </a:xfrm>
          <a:prstGeom prst="roundRect">
            <a:avLst>
              <a:gd name="adj" fmla="val 21333"/>
            </a:avLst>
          </a:prstGeom>
          <a:solidFill>
            <a:srgbClr val="4F7FFF"/>
          </a:solidFill>
          <a:ln/>
        </p:spPr>
      </p:sp>
      <p:sp>
        <p:nvSpPr>
          <p:cNvPr id="7" name="Text 2"/>
          <p:cNvSpPr/>
          <p:nvPr/>
        </p:nvSpPr>
        <p:spPr>
          <a:xfrm>
            <a:off x="676573" y="266700"/>
            <a:ext cx="74476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spc="14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 Loss</a:t>
            </a:r>
            <a:endParaRPr lang="en-US" sz="720" dirty="0"/>
          </a:p>
        </p:txBody>
      </p:sp>
      <p:sp>
        <p:nvSpPr>
          <p:cNvPr id="8" name="Text 3"/>
          <p:cNvSpPr/>
          <p:nvPr/>
        </p:nvSpPr>
        <p:spPr>
          <a:xfrm>
            <a:off x="8294117" y="266700"/>
            <a:ext cx="56763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spc="52" kern="0" dirty="0">
                <a:solidFill>
                  <a:srgbClr val="6D6F7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 / 06</a:t>
            </a:r>
            <a:endParaRPr lang="en-US" sz="650" dirty="0"/>
          </a:p>
        </p:txBody>
      </p:sp>
      <p:sp>
        <p:nvSpPr>
          <p:cNvPr id="9" name="Text 4"/>
          <p:cNvSpPr/>
          <p:nvPr/>
        </p:nvSpPr>
        <p:spPr>
          <a:xfrm>
            <a:off x="640035" y="844823"/>
            <a:ext cx="133941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15"/>
              </a:spcAft>
              <a:buNone/>
            </a:pPr>
            <a:r>
              <a:rPr lang="en-US" sz="790" b="1" spc="111" kern="0" dirty="0">
                <a:solidFill>
                  <a:srgbClr val="7C6B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THE PROOF</a:t>
            </a:r>
            <a:endParaRPr lang="en-US" sz="790" dirty="0"/>
          </a:p>
        </p:txBody>
      </p:sp>
      <p:sp>
        <p:nvSpPr>
          <p:cNvPr id="10" name="Text 5"/>
          <p:cNvSpPr/>
          <p:nvPr/>
        </p:nvSpPr>
        <p:spPr>
          <a:xfrm>
            <a:off x="640035" y="1102370"/>
            <a:ext cx="4205481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660" b="1" spc="-13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quiet failures</a:t>
            </a:r>
            <a:endParaRPr lang="en-US" sz="2660" dirty="0"/>
          </a:p>
        </p:txBody>
      </p:sp>
      <p:sp>
        <p:nvSpPr>
          <p:cNvPr id="11" name="Shape 6"/>
          <p:cNvSpPr/>
          <p:nvPr/>
        </p:nvSpPr>
        <p:spPr>
          <a:xfrm>
            <a:off x="639068" y="1693218"/>
            <a:ext cx="1647825" cy="4763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12" name="Text 7"/>
          <p:cNvSpPr/>
          <p:nvPr/>
        </p:nvSpPr>
        <p:spPr>
          <a:xfrm>
            <a:off x="772492" y="1913186"/>
            <a:ext cx="95110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CACA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resilience</a:t>
            </a:r>
            <a:endParaRPr lang="en-US" sz="1010" dirty="0"/>
          </a:p>
        </p:txBody>
      </p:sp>
      <p:sp>
        <p:nvSpPr>
          <p:cNvPr id="13" name="Text 8"/>
          <p:cNvSpPr/>
          <p:nvPr/>
        </p:nvSpPr>
        <p:spPr>
          <a:xfrm>
            <a:off x="640035" y="2085975"/>
            <a:ext cx="143925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CACA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scenarios passed</a:t>
            </a:r>
            <a:endParaRPr lang="en-US" sz="1010" dirty="0"/>
          </a:p>
        </p:txBody>
      </p:sp>
      <p:sp>
        <p:nvSpPr>
          <p:cNvPr id="14" name="Text 9"/>
          <p:cNvSpPr/>
          <p:nvPr/>
        </p:nvSpPr>
        <p:spPr>
          <a:xfrm>
            <a:off x="2464073" y="1913186"/>
            <a:ext cx="166194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CACA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 events are</a:t>
            </a:r>
            <a:endParaRPr lang="en-US" sz="1010" dirty="0"/>
          </a:p>
        </p:txBody>
      </p:sp>
      <p:sp>
        <p:nvSpPr>
          <p:cNvPr id="15" name="Text 10"/>
          <p:cNvSpPr/>
          <p:nvPr/>
        </p:nvSpPr>
        <p:spPr>
          <a:xfrm>
            <a:off x="2331616" y="2085975"/>
            <a:ext cx="94636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CACA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idempotent</a:t>
            </a:r>
            <a:endParaRPr lang="en-US" sz="1010" dirty="0"/>
          </a:p>
        </p:txBody>
      </p:sp>
      <p:sp>
        <p:nvSpPr>
          <p:cNvPr id="16" name="Text 11"/>
          <p:cNvSpPr/>
          <p:nvPr/>
        </p:nvSpPr>
        <p:spPr>
          <a:xfrm>
            <a:off x="772492" y="2371874"/>
            <a:ext cx="168428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CACA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Delayed and missing</a:t>
            </a:r>
            <a:endParaRPr lang="en-US" sz="1010" dirty="0"/>
          </a:p>
        </p:txBody>
      </p:sp>
      <p:sp>
        <p:nvSpPr>
          <p:cNvPr id="17" name="Text 12"/>
          <p:cNvSpPr/>
          <p:nvPr/>
        </p:nvSpPr>
        <p:spPr>
          <a:xfrm>
            <a:off x="640035" y="2544663"/>
            <a:ext cx="141506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CACA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outcomes remain</a:t>
            </a:r>
            <a:endParaRPr lang="en-US" sz="1010" dirty="0"/>
          </a:p>
        </p:txBody>
      </p:sp>
      <p:sp>
        <p:nvSpPr>
          <p:cNvPr id="18" name="Text 13"/>
          <p:cNvSpPr/>
          <p:nvPr/>
        </p:nvSpPr>
        <p:spPr>
          <a:xfrm>
            <a:off x="640035" y="2717453"/>
            <a:ext cx="165439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CACA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correctly associated</a:t>
            </a:r>
            <a:endParaRPr lang="en-US" sz="1010" dirty="0"/>
          </a:p>
        </p:txBody>
      </p:sp>
      <p:sp>
        <p:nvSpPr>
          <p:cNvPr id="19" name="Text 14"/>
          <p:cNvSpPr/>
          <p:nvPr/>
        </p:nvSpPr>
        <p:spPr>
          <a:xfrm>
            <a:off x="640035" y="2890242"/>
            <a:ext cx="90612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CACA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 pending</a:t>
            </a:r>
            <a:endParaRPr lang="en-US" sz="1010" dirty="0"/>
          </a:p>
        </p:txBody>
      </p:sp>
      <p:sp>
        <p:nvSpPr>
          <p:cNvPr id="20" name="Text 15"/>
          <p:cNvSpPr/>
          <p:nvPr/>
        </p:nvSpPr>
        <p:spPr>
          <a:xfrm>
            <a:off x="2464073" y="2371874"/>
            <a:ext cx="131977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CACA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Six-hour outage</a:t>
            </a:r>
            <a:endParaRPr lang="en-US" sz="1010" dirty="0"/>
          </a:p>
        </p:txBody>
      </p:sp>
      <p:sp>
        <p:nvSpPr>
          <p:cNvPr id="21" name="Text 16"/>
          <p:cNvSpPr/>
          <p:nvPr/>
        </p:nvSpPr>
        <p:spPr>
          <a:xfrm>
            <a:off x="2331616" y="2544663"/>
            <a:ext cx="143044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CACA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replays all unique</a:t>
            </a:r>
            <a:endParaRPr lang="en-US" sz="1010" dirty="0"/>
          </a:p>
        </p:txBody>
      </p:sp>
      <p:sp>
        <p:nvSpPr>
          <p:cNvPr id="22" name="Text 17"/>
          <p:cNvSpPr/>
          <p:nvPr/>
        </p:nvSpPr>
        <p:spPr>
          <a:xfrm>
            <a:off x="2331616" y="2717453"/>
            <a:ext cx="129182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CACA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buffered events</a:t>
            </a:r>
            <a:endParaRPr lang="en-US" sz="1010" dirty="0"/>
          </a:p>
        </p:txBody>
      </p:sp>
      <p:sp>
        <p:nvSpPr>
          <p:cNvPr id="23" name="Text 18"/>
          <p:cNvSpPr/>
          <p:nvPr/>
        </p:nvSpPr>
        <p:spPr>
          <a:xfrm>
            <a:off x="772492" y="3176141"/>
            <a:ext cx="176380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CACA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Feature-only drift and</a:t>
            </a:r>
            <a:endParaRPr lang="en-US" sz="1010" dirty="0"/>
          </a:p>
        </p:txBody>
      </p:sp>
      <p:sp>
        <p:nvSpPr>
          <p:cNvPr id="24" name="Text 19"/>
          <p:cNvSpPr/>
          <p:nvPr/>
        </p:nvSpPr>
        <p:spPr>
          <a:xfrm>
            <a:off x="640035" y="3348930"/>
            <a:ext cx="148181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CACA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performance-only</a:t>
            </a:r>
            <a:endParaRPr lang="en-US" sz="1010" dirty="0"/>
          </a:p>
        </p:txBody>
      </p:sp>
      <p:sp>
        <p:nvSpPr>
          <p:cNvPr id="25" name="Text 20"/>
          <p:cNvSpPr/>
          <p:nvPr/>
        </p:nvSpPr>
        <p:spPr>
          <a:xfrm>
            <a:off x="640035" y="3521720"/>
            <a:ext cx="129946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CACA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degradation are</a:t>
            </a:r>
            <a:endParaRPr lang="en-US" sz="1010" dirty="0"/>
          </a:p>
        </p:txBody>
      </p:sp>
      <p:sp>
        <p:nvSpPr>
          <p:cNvPr id="26" name="Text 21"/>
          <p:cNvSpPr/>
          <p:nvPr/>
        </p:nvSpPr>
        <p:spPr>
          <a:xfrm>
            <a:off x="640035" y="3694509"/>
            <a:ext cx="110608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CACA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distinguished</a:t>
            </a:r>
            <a:endParaRPr lang="en-US" sz="1010" dirty="0"/>
          </a:p>
        </p:txBody>
      </p:sp>
      <p:sp>
        <p:nvSpPr>
          <p:cNvPr id="27" name="Text 22"/>
          <p:cNvSpPr/>
          <p:nvPr/>
        </p:nvSpPr>
        <p:spPr>
          <a:xfrm>
            <a:off x="2464073" y="3176141"/>
            <a:ext cx="11118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CACA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automated</a:t>
            </a:r>
            <a:endParaRPr lang="en-US" sz="1010" dirty="0"/>
          </a:p>
        </p:txBody>
      </p:sp>
      <p:sp>
        <p:nvSpPr>
          <p:cNvPr id="28" name="Text 23"/>
          <p:cNvSpPr/>
          <p:nvPr/>
        </p:nvSpPr>
        <p:spPr>
          <a:xfrm>
            <a:off x="2331616" y="3348930"/>
            <a:ext cx="854854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CACA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 pass</a:t>
            </a:r>
            <a:endParaRPr lang="en-US" sz="1010" dirty="0"/>
          </a:p>
        </p:txBody>
      </p:sp>
      <p:sp>
        <p:nvSpPr>
          <p:cNvPr id="29" name="Shape 24"/>
          <p:cNvSpPr/>
          <p:nvPr/>
        </p:nvSpPr>
        <p:spPr>
          <a:xfrm>
            <a:off x="639700" y="4064384"/>
            <a:ext cx="1604963" cy="247650"/>
          </a:xfrm>
          <a:prstGeom prst="roundRect">
            <a:avLst>
              <a:gd name="adj" fmla="val 18462"/>
            </a:avLst>
          </a:prstGeom>
          <a:solidFill>
            <a:srgbClr val="FFFFFF">
              <a:alpha val="4300"/>
            </a:srgbClr>
          </a:solidFill>
          <a:ln w="476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54484" y="4129162"/>
            <a:ext cx="1845164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0"/>
              </a:spcBef>
              <a:buNone/>
            </a:pPr>
            <a:r>
              <a:rPr lang="en-US" sz="720" dirty="0">
                <a:solidFill>
                  <a:srgbClr val="9A8C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python scripts/run_all.py</a:t>
            </a:r>
            <a:endParaRPr lang="en-US" sz="720" dirty="0"/>
          </a:p>
        </p:txBody>
      </p:sp>
      <p:sp>
        <p:nvSpPr>
          <p:cNvPr id="31" name="Shape 26"/>
          <p:cNvSpPr/>
          <p:nvPr/>
        </p:nvSpPr>
        <p:spPr>
          <a:xfrm>
            <a:off x="4662376" y="1404900"/>
            <a:ext cx="3019425" cy="2333625"/>
          </a:xfrm>
          <a:prstGeom prst="roundRect">
            <a:avLst>
              <a:gd name="adj" fmla="val 50000"/>
            </a:avLst>
          </a:prstGeom>
          <a:ln w="4763">
            <a:solidFill>
              <a:srgbClr val="5080FF">
                <a:alpha val="25098"/>
              </a:srgbClr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029088" y="1771613"/>
            <a:ext cx="2286000" cy="1600200"/>
          </a:xfrm>
          <a:prstGeom prst="roundRect">
            <a:avLst>
              <a:gd name="adj" fmla="val 50000"/>
            </a:avLst>
          </a:prstGeom>
          <a:ln w="4763">
            <a:solidFill>
              <a:srgbClr val="7B6AF1">
                <a:alpha val="34902"/>
              </a:srgbClr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5760132" y="2108262"/>
            <a:ext cx="823913" cy="823913"/>
          </a:xfrm>
          <a:prstGeom prst="ellipse">
            <a:avLst/>
          </a:prstGeom>
          <a:solidFill>
            <a:srgbClr val="4E80FF">
              <a:alpha val="10196"/>
            </a:srgbClr>
          </a:solidFill>
          <a:ln w="4763">
            <a:solidFill>
              <a:srgbClr val="5080FF">
                <a:alpha val="40000"/>
              </a:srgbClr>
            </a:solidFill>
            <a:prstDash val="solid"/>
          </a:ln>
          <a:effectLst>
            <a:outerShdw sx="100000" sy="100000" kx="0" ky="0" algn="bl" rotWithShape="0" blurRad="457200" dist="50800" dir="16200000">
              <a:srgbClr val="4F7FFF">
                <a:alpha val="22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5962501" y="2222674"/>
            <a:ext cx="419100" cy="419100"/>
          </a:xfrm>
          <a:prstGeom prst="ellipse">
            <a:avLst/>
          </a:prstGeom>
          <a:solidFill>
            <a:srgbClr val="4F7FFF"/>
          </a:solidFill>
          <a:ln/>
        </p:spPr>
      </p:sp>
      <p:sp>
        <p:nvSpPr>
          <p:cNvPr id="35" name="Text 30"/>
          <p:cNvSpPr/>
          <p:nvPr/>
        </p:nvSpPr>
        <p:spPr>
          <a:xfrm>
            <a:off x="6041008" y="2371055"/>
            <a:ext cx="39776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</a:t>
            </a:r>
            <a:endParaRPr lang="en-US" sz="790" dirty="0"/>
          </a:p>
        </p:txBody>
      </p:sp>
      <p:sp>
        <p:nvSpPr>
          <p:cNvPr id="36" name="Shape 31"/>
          <p:cNvSpPr/>
          <p:nvPr/>
        </p:nvSpPr>
        <p:spPr>
          <a:xfrm>
            <a:off x="4434334" y="1286396"/>
            <a:ext cx="957263" cy="476250"/>
          </a:xfrm>
          <a:prstGeom prst="roundRect">
            <a:avLst>
              <a:gd name="adj" fmla="val 13440"/>
            </a:avLst>
          </a:prstGeom>
          <a:solidFill>
            <a:srgbClr val="FFFFFF">
              <a:alpha val="4300"/>
            </a:srgbClr>
          </a:solidFill>
          <a:ln w="476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4549155" y="1361777"/>
            <a:ext cx="84817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spc="76" kern="0" dirty="0">
                <a:solidFill>
                  <a:srgbClr val="8688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INGESTION</a:t>
            </a:r>
            <a:endParaRPr lang="en-US" sz="760" dirty="0"/>
          </a:p>
        </p:txBody>
      </p:sp>
      <p:sp>
        <p:nvSpPr>
          <p:cNvPr id="38" name="Text 33"/>
          <p:cNvSpPr/>
          <p:nvPr/>
        </p:nvSpPr>
        <p:spPr>
          <a:xfrm>
            <a:off x="4549155" y="1546473"/>
            <a:ext cx="100305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84"/>
              </a:spcBef>
              <a:buNone/>
            </a:pPr>
            <a:r>
              <a:rPr lang="en-US" sz="8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IDEMPOTENT</a:t>
            </a:r>
            <a:endParaRPr lang="en-US" sz="860" dirty="0"/>
          </a:p>
        </p:txBody>
      </p:sp>
      <p:sp>
        <p:nvSpPr>
          <p:cNvPr id="39" name="Shape 34"/>
          <p:cNvSpPr/>
          <p:nvPr/>
        </p:nvSpPr>
        <p:spPr>
          <a:xfrm>
            <a:off x="6970142" y="1749326"/>
            <a:ext cx="938212" cy="476250"/>
          </a:xfrm>
          <a:prstGeom prst="roundRect">
            <a:avLst>
              <a:gd name="adj" fmla="val 13440"/>
            </a:avLst>
          </a:prstGeom>
          <a:solidFill>
            <a:srgbClr val="FFFFFF">
              <a:alpha val="4300"/>
            </a:srgbClr>
          </a:solidFill>
          <a:ln w="476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7083475" y="1824707"/>
            <a:ext cx="87652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spc="76" kern="0" dirty="0">
                <a:solidFill>
                  <a:srgbClr val="8688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OUTCOMES</a:t>
            </a:r>
            <a:endParaRPr lang="en-US" sz="760" dirty="0"/>
          </a:p>
        </p:txBody>
      </p:sp>
      <p:sp>
        <p:nvSpPr>
          <p:cNvPr id="41" name="Text 36"/>
          <p:cNvSpPr/>
          <p:nvPr/>
        </p:nvSpPr>
        <p:spPr>
          <a:xfrm>
            <a:off x="7083475" y="2009403"/>
            <a:ext cx="9821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84"/>
              </a:spcBef>
              <a:buNone/>
            </a:pPr>
            <a:r>
              <a:rPr lang="en-US" sz="8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ASSOCIATED</a:t>
            </a:r>
            <a:endParaRPr lang="en-US" sz="860" dirty="0"/>
          </a:p>
        </p:txBody>
      </p:sp>
      <p:sp>
        <p:nvSpPr>
          <p:cNvPr id="42" name="Shape 37"/>
          <p:cNvSpPr/>
          <p:nvPr/>
        </p:nvSpPr>
        <p:spPr>
          <a:xfrm>
            <a:off x="4570884" y="3226445"/>
            <a:ext cx="1281112" cy="476250"/>
          </a:xfrm>
          <a:prstGeom prst="roundRect">
            <a:avLst>
              <a:gd name="adj" fmla="val 13440"/>
            </a:avLst>
          </a:prstGeom>
          <a:solidFill>
            <a:srgbClr val="FFFFFF">
              <a:alpha val="4300"/>
            </a:srgbClr>
          </a:solidFill>
          <a:ln w="476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4686300" y="3301826"/>
            <a:ext cx="81790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spc="76" kern="0" dirty="0">
                <a:solidFill>
                  <a:srgbClr val="8688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RECOVERY</a:t>
            </a:r>
            <a:endParaRPr lang="en-US" sz="760" dirty="0"/>
          </a:p>
        </p:txBody>
      </p:sp>
      <p:sp>
        <p:nvSpPr>
          <p:cNvPr id="44" name="Text 39"/>
          <p:cNvSpPr/>
          <p:nvPr/>
        </p:nvSpPr>
        <p:spPr>
          <a:xfrm>
            <a:off x="4686300" y="3486522"/>
            <a:ext cx="142251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84"/>
              </a:spcBef>
              <a:buNone/>
            </a:pPr>
            <a:r>
              <a:rPr lang="en-US" sz="8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+ FORWARD</a:t>
            </a:r>
            <a:endParaRPr lang="en-US" sz="860" dirty="0"/>
          </a:p>
        </p:txBody>
      </p:sp>
      <p:sp>
        <p:nvSpPr>
          <p:cNvPr id="45" name="Shape 40"/>
          <p:cNvSpPr/>
          <p:nvPr/>
        </p:nvSpPr>
        <p:spPr>
          <a:xfrm>
            <a:off x="6820644" y="3483620"/>
            <a:ext cx="1042988" cy="476250"/>
          </a:xfrm>
          <a:prstGeom prst="roundRect">
            <a:avLst>
              <a:gd name="adj" fmla="val 13440"/>
            </a:avLst>
          </a:prstGeom>
          <a:solidFill>
            <a:srgbClr val="FFFFFF">
              <a:alpha val="4300"/>
            </a:srgbClr>
          </a:solidFill>
          <a:ln w="476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6934944" y="3559001"/>
            <a:ext cx="105684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spc="76" kern="0" dirty="0">
                <a:solidFill>
                  <a:srgbClr val="8688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</a:t>
            </a:r>
            <a:endParaRPr lang="en-US" sz="760" dirty="0"/>
          </a:p>
        </p:txBody>
      </p:sp>
      <p:sp>
        <p:nvSpPr>
          <p:cNvPr id="47" name="Text 42"/>
          <p:cNvSpPr/>
          <p:nvPr/>
        </p:nvSpPr>
        <p:spPr>
          <a:xfrm>
            <a:off x="6934944" y="3743697"/>
            <a:ext cx="111585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84"/>
              </a:spcBef>
              <a:buNone/>
            </a:pPr>
            <a:r>
              <a:rPr lang="en-US" sz="8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TESTS PASS</a:t>
            </a:r>
            <a:endParaRPr lang="en-US" sz="860" dirty="0"/>
          </a:p>
        </p:txBody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016" y="1131540"/>
            <a:ext cx="3566145" cy="28803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2026-09-05T12:57:10Z</dcterms:created>
  <dcterms:modified xsi:type="dcterms:W3CDTF">2026-09-05T12:57:10Z</dcterms:modified>
</cp:coreProperties>
</file>